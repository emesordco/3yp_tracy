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martin.davy@eng.ox.ac.uk" TargetMode="External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www.ox.ac.uk/students/academic/guidance/skills/plagiarism?wssl=1" TargetMode="External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252000" y="1918800"/>
            <a:ext cx="8710200" cy="146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3600" spc="-1" strike="noStrike">
                <a:solidFill>
                  <a:srgbClr val="356ab7"/>
                </a:solidFill>
                <a:latin typeface="Calibri"/>
                <a:ea typeface="Calibri"/>
              </a:rPr>
              <a:t>Design of Electric Formula Student Race Car </a:t>
            </a:r>
            <a:br>
              <a:rPr sz="1800"/>
            </a:b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Calibri"/>
              </a:rPr>
              <a:t>3YP Report Writing</a:t>
            </a:r>
            <a:br>
              <a:rPr sz="1800"/>
            </a:b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Calibri"/>
              </a:rPr>
              <a:t>Hilary Term 2026</a:t>
            </a:r>
            <a:endParaRPr b="0" lang="en-GB" sz="3200" spc="-1" strike="noStrike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1371600" y="3674520"/>
            <a:ext cx="6398640" cy="175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GB" sz="3200" spc="-1" strike="noStrike">
                <a:solidFill>
                  <a:srgbClr val="8b8b8b"/>
                </a:solidFill>
                <a:latin typeface="Calibri"/>
                <a:ea typeface="DejaVu Sans"/>
              </a:rPr>
              <a:t>Martin Davy</a:t>
            </a:r>
            <a:endParaRPr b="0" lang="en-GB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GB" sz="32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"/>
              </a:rPr>
              <a:t>martin.davy@exeter.ox.ac.uk</a:t>
            </a:r>
            <a:endParaRPr b="0" lang="en-GB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Final Report: The Rules of the Game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457200" y="1832400"/>
            <a:ext cx="8227440" cy="39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8000"/>
          </a:bodyPr>
          <a:p>
            <a:pPr marL="343080" indent="-3412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Ordinarily, a </a:t>
            </a:r>
            <a:r>
              <a:rPr b="1" lang="en-GB" sz="2400" spc="-1" strike="noStrike">
                <a:solidFill>
                  <a:srgbClr val="356ab7"/>
                </a:solidFill>
                <a:latin typeface="Calibri"/>
                <a:ea typeface="DejaVu Sans"/>
              </a:rPr>
              <a:t>single project 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report will be produced by each group 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b="0" lang="en-GB" sz="24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total report limit </a:t>
            </a:r>
            <a:r>
              <a:rPr b="0" lang="en-GB" sz="24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for each student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1" lang="en-GB" sz="2400" spc="-1" strike="noStrike">
                <a:solidFill>
                  <a:srgbClr val="356ab7"/>
                </a:solidFill>
                <a:latin typeface="Calibri"/>
                <a:ea typeface="DejaVu Sans"/>
              </a:rPr>
              <a:t>30 pages 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b="0" lang="en-GB" sz="2400" spc="-1" strike="noStrike">
              <a:latin typeface="Arial"/>
            </a:endParaRPr>
          </a:p>
          <a:p>
            <a:pPr marL="357120" indent="-35532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rgbClr val="356ab7"/>
                </a:solidFill>
                <a:latin typeface="Calibri"/>
                <a:ea typeface="DejaVu Sans"/>
              </a:rPr>
              <a:t>	</a:t>
            </a:r>
            <a:r>
              <a:rPr b="0" lang="en-GB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30 page limit includes: </a:t>
            </a:r>
            <a:endParaRPr b="0" lang="en-GB" sz="20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all diagrams, photographs, references and appendices 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GB" sz="2000" spc="-1" strike="noStrike">
              <a:latin typeface="Arial"/>
            </a:endParaRPr>
          </a:p>
          <a:p>
            <a:pPr marL="35712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 excludes </a:t>
            </a:r>
            <a:endParaRPr b="0" lang="en-GB" sz="2000" spc="-1" strike="noStrike">
              <a:latin typeface="Arial"/>
            </a:endParaRPr>
          </a:p>
          <a:p>
            <a:pPr lvl="1" marL="700200" indent="-341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1" lang="en-GB" sz="2000" spc="-1" strike="noStrike">
                <a:solidFill>
                  <a:srgbClr val="0066b3"/>
                </a:solidFill>
                <a:latin typeface="Calibri"/>
                <a:ea typeface="DejaVu Sans"/>
              </a:rPr>
              <a:t>Declaration of Authorship</a:t>
            </a:r>
            <a:r>
              <a:rPr b="0" lang="en-GB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page (the report must be the candidate’s own work and should include a signed statement to this effect)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GB" sz="2000" spc="-1" strike="noStrike">
              <a:latin typeface="Arial"/>
            </a:endParaRPr>
          </a:p>
          <a:p>
            <a:pPr marL="299880" indent="-3412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will be </a:t>
            </a:r>
            <a:r>
              <a:rPr b="1" lang="en-GB" sz="2400" spc="-1" strike="noStrike">
                <a:solidFill>
                  <a:srgbClr val="356ab7"/>
                </a:solidFill>
                <a:latin typeface="Calibri"/>
                <a:ea typeface="DejaVu Sans"/>
              </a:rPr>
              <a:t>no exceptions to the page limit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 Please do not ask 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Final Report: The Rules of the Game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457200" y="16884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343080" indent="-341280">
              <a:lnSpc>
                <a:spcPct val="100000"/>
              </a:lnSpc>
              <a:spcBef>
                <a:spcPts val="479"/>
              </a:spcBef>
              <a:buClr>
                <a:srgbClr val="356ab7"/>
              </a:buClr>
              <a:buFont typeface="Arial"/>
              <a:buChar char="•"/>
            </a:pPr>
            <a:r>
              <a:rPr b="1" lang="en-GB" sz="2400" spc="-1" strike="noStrike">
                <a:solidFill>
                  <a:srgbClr val="356ab7"/>
                </a:solidFill>
                <a:latin typeface="Calibri"/>
                <a:ea typeface="DejaVu Sans"/>
              </a:rPr>
              <a:t>All pages 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should be:</a:t>
            </a:r>
            <a:endParaRPr b="0" lang="en-GB" sz="24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numbered</a:t>
            </a:r>
            <a:endParaRPr b="0" lang="en-GB" sz="24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have margins of not less than 20 mm</a:t>
            </a:r>
            <a:endParaRPr b="0" lang="en-GB" sz="24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 face of minimum 11pt font</a:t>
            </a:r>
            <a:endParaRPr b="0" lang="en-GB" sz="24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double line spacing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24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individual contribution of each student </a:t>
            </a:r>
            <a:r>
              <a:rPr b="1" lang="en-GB" sz="2400" spc="-1" strike="noStrike">
                <a:solidFill>
                  <a:srgbClr val="356ab7"/>
                </a:solidFill>
                <a:latin typeface="Calibri"/>
                <a:ea typeface="DejaVu Sans"/>
              </a:rPr>
              <a:t>must be clearly identifiable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GB" sz="1400" spc="-1" strike="noStrike">
                <a:solidFill>
                  <a:srgbClr val="356ab7"/>
                </a:solidFill>
                <a:latin typeface="Calibri"/>
                <a:ea typeface="DejaVu Sans"/>
              </a:rPr>
              <a:t>(https://canvas.ox.ac.uk/courses/25741/pages/exam-conventions?module_item_id=2318454)</a:t>
            </a:r>
            <a:endParaRPr b="0" lang="en-GB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8000"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Final Report: The Rules of the Game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b="1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Plagiarism: 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GB" sz="28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Serious Academic Misconduct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GB" sz="18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"/>
              </a:rPr>
              <a:t>https://www.ox.ac.uk/students/academic/guidance/skills/plagiarism?wssl=1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b="0" lang="en-GB" sz="18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Be sure to </a:t>
            </a:r>
            <a:r>
              <a:rPr b="1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reference 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anything</a:t>
            </a:r>
            <a:r>
              <a:rPr b="1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 </a:t>
            </a:r>
            <a:endParaRPr b="0" lang="en-GB" sz="28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you quote (either directly or indirectly) or use which is not directly your own work </a:t>
            </a:r>
            <a:endParaRPr b="0" lang="en-GB" sz="24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comes from a book, a research paper, the internet, or even from a colleague</a:t>
            </a:r>
            <a:endParaRPr b="0" lang="en-GB" sz="24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includes thoughts and ideas</a:t>
            </a:r>
            <a:endParaRPr b="0" lang="en-GB" sz="24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includes figures and diagrams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A </a:t>
            </a:r>
            <a:r>
              <a:rPr b="1" lang="en-GB" sz="4400" spc="-1" strike="noStrike" u="sng">
                <a:solidFill>
                  <a:srgbClr val="356ab7"/>
                </a:solidFill>
                <a:uFillTx/>
                <a:latin typeface="Calibri"/>
                <a:ea typeface="DejaVu Sans"/>
              </a:rPr>
              <a:t>Single</a:t>
            </a: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 Project Report 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6000"/>
          </a:bodyPr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The project report is an exercise in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technical communication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356ab7"/>
              </a:buClr>
              <a:buFont typeface="Arial"/>
              <a:buChar char="•"/>
            </a:pP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Objective: 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To present your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group project </a:t>
            </a:r>
            <a:r>
              <a:rPr b="0" lang="en-GB" sz="32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design solution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This requires you to produce a coherent report written to a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common style 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across the group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Common </a:t>
            </a:r>
            <a:r>
              <a:rPr b="1" lang="en-GB" sz="4400" spc="-1" strike="noStrike" u="sng">
                <a:solidFill>
                  <a:srgbClr val="356ab7"/>
                </a:solidFill>
                <a:uFillTx/>
                <a:latin typeface="Calibri"/>
                <a:ea typeface="DejaVu Sans"/>
              </a:rPr>
              <a:t>Coherent</a:t>
            </a: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 Style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356ab7"/>
              </a:buClr>
              <a:buFont typeface="Arial"/>
              <a:buChar char="•"/>
            </a:pP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Early decisions</a:t>
            </a:r>
            <a:endParaRPr b="0" lang="en-GB" sz="32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MS Word / LaTeX / Something else?</a:t>
            </a:r>
            <a:endParaRPr b="0" lang="en-GB" sz="28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Font and formatting </a:t>
            </a:r>
            <a:endParaRPr b="0" lang="en-GB" sz="2800" spc="-1" strike="noStrike">
              <a:latin typeface="Arial"/>
            </a:endParaRPr>
          </a:p>
          <a:p>
            <a:pPr lvl="2" marL="1143000" indent="-226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Common practice: sans serif &amp; left justified</a:t>
            </a:r>
            <a:endParaRPr b="0" lang="en-GB" sz="2400" spc="-1" strike="noStrike">
              <a:latin typeface="Arial"/>
            </a:endParaRPr>
          </a:p>
          <a:p>
            <a:pPr lvl="2" marL="1143000" indent="-226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Text sizes for headings, body, table and figure captions</a:t>
            </a:r>
            <a:endParaRPr b="0" lang="en-GB" sz="24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Section and subsection labelling</a:t>
            </a:r>
            <a:endParaRPr b="0" lang="en-GB" sz="2800" spc="-1" strike="noStrike">
              <a:latin typeface="Arial"/>
            </a:endParaRPr>
          </a:p>
          <a:p>
            <a:pPr lvl="2" marL="1143000" indent="-226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More than three levels is confusing (4.3.1.2?)</a:t>
            </a:r>
            <a:endParaRPr b="0" lang="en-GB" sz="24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Table and figure labelling</a:t>
            </a:r>
            <a:endParaRPr b="0" lang="en-GB" sz="28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Reference style (one list / many lists?)</a:t>
            </a:r>
            <a:endParaRPr b="0" lang="en-GB" sz="2800" spc="-1" strike="noStrike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479"/>
              </a:spcBef>
              <a:buNone/>
            </a:pPr>
            <a:endParaRPr b="0" lang="en-GB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5" dur="indefinite" restart="never" nodeType="tmRoot">
          <p:childTnLst>
            <p:seq>
              <p:cTn id="96" dur="indefinite" nodeType="mainSeq"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Common </a:t>
            </a:r>
            <a:r>
              <a:rPr b="1" lang="en-GB" sz="4400" spc="-1" strike="noStrike" u="sng">
                <a:solidFill>
                  <a:srgbClr val="356ab7"/>
                </a:solidFill>
                <a:uFillTx/>
                <a:latin typeface="Calibri"/>
                <a:ea typeface="DejaVu Sans"/>
              </a:rPr>
              <a:t>Coherent</a:t>
            </a: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 Style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6000"/>
          </a:bodyPr>
          <a:p>
            <a:pPr marL="343080" indent="-341280">
              <a:lnSpc>
                <a:spcPct val="14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Difficult to achieve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40000"/>
              </a:lnSpc>
              <a:spcBef>
                <a:spcPts val="479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1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Working from a common template  or .sty file can help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40000"/>
              </a:lnSpc>
              <a:spcBef>
                <a:spcPts val="479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40000"/>
              </a:lnSpc>
              <a:spcBef>
                <a:spcPts val="641"/>
              </a:spcBef>
              <a:buClr>
                <a:srgbClr val="356ab7"/>
              </a:buClr>
              <a:buFont typeface="Arial"/>
              <a:buChar char="•"/>
            </a:pP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Lots to consider -&gt; Allow lots of time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4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4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Style &amp; Grammar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are important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4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3" dur="indefinite" restart="never" nodeType="tmRoot">
          <p:childTnLst>
            <p:seq>
              <p:cTn id="134" dur="indefinite" nodeType="mainSeq">
                <p:childTnLst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Style &amp; Grammar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29" name="CustomShape 2"/>
          <p:cNvSpPr/>
          <p:nvPr/>
        </p:nvSpPr>
        <p:spPr>
          <a:xfrm>
            <a:off x="457200" y="2059560"/>
            <a:ext cx="8227440" cy="33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Engineering reports are typically written in the </a:t>
            </a:r>
            <a:r>
              <a:rPr b="1" i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passive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voice, i.e.</a:t>
            </a:r>
            <a:endParaRPr b="0" lang="en-GB" sz="32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 experiment </a:t>
            </a:r>
            <a:r>
              <a:rPr b="1" i="1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was performed</a:t>
            </a:r>
            <a:r>
              <a:rPr b="1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 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to investigate… </a:t>
            </a: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28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Reports should therefore be </a:t>
            </a:r>
            <a:r>
              <a:rPr b="0" i="1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impersonal</a:t>
            </a:r>
            <a:endParaRPr b="0" lang="en-GB" sz="32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i.e. avoid the use of </a:t>
            </a:r>
            <a:r>
              <a:rPr b="0" i="1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i="1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we</a:t>
            </a:r>
            <a:endParaRPr b="0" lang="en-GB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1" dur="indefinite" restart="never" nodeType="tmRoot">
          <p:childTnLst>
            <p:seq>
              <p:cTn id="152" dur="indefinite" nodeType="mainSeq">
                <p:childTnLst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Style &amp; Grammar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b="0" i="1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Past, present 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i="1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past perfect 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tenses are acceptable. Convention suggests the use of: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356ab7"/>
              </a:buClr>
              <a:buFont typeface="Arial"/>
              <a:buChar char="•"/>
            </a:pPr>
            <a:r>
              <a:rPr b="1" i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Present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tense to explain or discuss</a:t>
            </a:r>
            <a:endParaRPr b="0" lang="en-GB" sz="32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This result </a:t>
            </a:r>
            <a:r>
              <a:rPr b="1" i="1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is</a:t>
            </a:r>
            <a:r>
              <a:rPr b="0" i="1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unexpected in that … </a:t>
            </a: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28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356ab7"/>
              </a:buClr>
              <a:buFont typeface="Arial"/>
              <a:buChar char="•"/>
            </a:pPr>
            <a:r>
              <a:rPr b="1" i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Past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(or </a:t>
            </a:r>
            <a:r>
              <a:rPr b="0" i="1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past perfect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) to state or describe</a:t>
            </a:r>
            <a:endParaRPr b="0" lang="en-GB" sz="32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Fuel flow </a:t>
            </a:r>
            <a:r>
              <a:rPr b="1" i="1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was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measured by means of…   </a:t>
            </a: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5" dur="indefinite" restart="never" nodeType="tmRoot">
          <p:childTnLst>
            <p:seq>
              <p:cTn id="166" dur="indefinite" nodeType="mainSeq">
                <p:childTnLst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Style &amp; Grammar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457200" y="1667880"/>
            <a:ext cx="8227440" cy="40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12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Vary sentence length for readability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endParaRPr b="0" lang="en-GB" sz="24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Avoid overlong sentences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buNone/>
            </a:pPr>
            <a:endParaRPr b="0" lang="en-GB" sz="24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Shorter sentences are useful for summary statements and for emphasis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endParaRPr b="0" lang="en-GB" sz="24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Many good grammar guides available on line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endParaRPr b="0" lang="en-GB" sz="24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Typos negatively affect the perception of your work. </a:t>
            </a:r>
            <a:r>
              <a:rPr b="1" lang="en-GB" sz="2400" spc="-1" strike="noStrike">
                <a:solidFill>
                  <a:srgbClr val="356ab7"/>
                </a:solidFill>
                <a:latin typeface="Calibri"/>
                <a:ea typeface="DejaVu Sans"/>
              </a:rPr>
              <a:t>Proof read 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carefully, </a:t>
            </a:r>
            <a:r>
              <a:rPr b="1" lang="en-GB" sz="2400" spc="-1" strike="noStrike">
                <a:solidFill>
                  <a:srgbClr val="356ab7"/>
                </a:solidFill>
                <a:latin typeface="Calibri"/>
                <a:ea typeface="DejaVu Sans"/>
              </a:rPr>
              <a:t>proof read 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again, and then get someone else to </a:t>
            </a:r>
            <a:r>
              <a:rPr b="1" lang="en-GB" sz="2400" spc="-1" strike="noStrike">
                <a:solidFill>
                  <a:srgbClr val="356ab7"/>
                </a:solidFill>
                <a:latin typeface="Calibri"/>
                <a:ea typeface="DejaVu Sans"/>
              </a:rPr>
              <a:t>proof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read your work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3" dur="indefinite" restart="never" nodeType="tmRoot">
          <p:childTnLst>
            <p:seq>
              <p:cTn id="184" dur="indefinite" nodeType="mainSeq">
                <p:childTnLst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Drawings and Illustrations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Must: </a:t>
            </a:r>
            <a:endParaRPr b="0" lang="en-GB" sz="32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be clear with legible text – </a:t>
            </a:r>
            <a:r>
              <a:rPr b="1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SIZE</a:t>
            </a:r>
            <a:r>
              <a:rPr b="0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 is important!</a:t>
            </a:r>
            <a:endParaRPr b="0" lang="en-GB" sz="28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be appropriately referenced</a:t>
            </a:r>
            <a:endParaRPr b="0" lang="en-GB" sz="28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add value</a:t>
            </a: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28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Scans can be problematic in this respect</a:t>
            </a:r>
            <a:endParaRPr b="0" lang="en-GB" sz="32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consider redrawing</a:t>
            </a:r>
            <a:endParaRPr b="0" lang="en-GB" sz="28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cite as “adapted from [1]” or “redrawn from [2]”</a:t>
            </a:r>
            <a:endParaRPr b="0" lang="en-GB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5" dur="indefinite" restart="never" nodeType="tmRoot">
          <p:childTnLst>
            <p:seq>
              <p:cTn id="206" dur="indefinite" nodeType="mainSeq"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Table and Figure Captions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Should contain sufficient information for the reader to interpret the figure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without having to refer back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to the text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Table captions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above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table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Figure captions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below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figures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Reference Styles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59328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8000"/>
          </a:bodyPr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Note: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References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NOT Bibliography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Many available styles: Pick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one</a:t>
            </a:r>
            <a:endParaRPr b="0" lang="en-GB" sz="32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Common styles for engineering: </a:t>
            </a:r>
            <a:r>
              <a:rPr b="1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Harvard</a:t>
            </a:r>
            <a:r>
              <a:rPr b="0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, </a:t>
            </a:r>
            <a:r>
              <a:rPr b="1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Vancouver</a:t>
            </a:r>
            <a:endParaRPr b="0" lang="en-GB" sz="28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ICL have some nice style guides:</a:t>
            </a: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GB" sz="13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</a:rPr>
              <a:t>https://www.imperial.ac.uk/admin-services/library/learning-support/reference-management/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endParaRPr b="0" lang="en-GB" sz="13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If using a number style system use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[square brackets]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5" dur="indefinite" restart="never" nodeType="tmRoot">
          <p:childTnLst>
            <p:seq>
              <p:cTn id="236" dur="indefinite" nodeType="mainSeq">
                <p:childTnLst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References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457200" y="1600200"/>
            <a:ext cx="8227440" cy="39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Key point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Whatever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reference style you choose you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must include sufficient information 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for the reader to be able to find and (potentially) read the original source if they so desire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9" dur="indefinite" restart="never" nodeType="tmRoot">
          <p:childTnLst>
            <p:seq>
              <p:cTn id="260" dur="indefinite" nodeType="mainSeq"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References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43" name="CustomShape 2"/>
          <p:cNvSpPr/>
          <p:nvPr/>
        </p:nvSpPr>
        <p:spPr>
          <a:xfrm>
            <a:off x="457200" y="1785600"/>
            <a:ext cx="8227440" cy="34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8000"/>
          </a:bodyPr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356ab7"/>
              </a:buClr>
              <a:buFont typeface="Arial"/>
              <a:buChar char="•"/>
            </a:pP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Web sites and pages 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are by their nature </a:t>
            </a:r>
            <a:r>
              <a:rPr b="0" lang="en-GB" sz="32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living documents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and therefore subject to regular change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hence, in a reference to an online source you should include not only the URL but also the </a:t>
            </a:r>
            <a:r>
              <a:rPr b="1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date that you accessed the cited information</a:t>
            </a:r>
            <a:endParaRPr b="0" lang="en-GB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9" dur="indefinite" restart="never" nodeType="tmRoot">
          <p:childTnLst>
            <p:seq>
              <p:cTn id="270" dur="indefinite" nodeType="mainSeq">
                <p:childTnLst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Content &amp; Structure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>
            <a:off x="457200" y="1679760"/>
            <a:ext cx="8227440" cy="40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Your report should detail your group’s proposed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design solution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In order to assess the suitability of your proposed solution we need to know the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details of the problem 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that you are trying to address</a:t>
            </a:r>
            <a:endParaRPr b="0" lang="en-GB" sz="3200" spc="-1" strike="noStrike">
              <a:latin typeface="Arial"/>
            </a:endParaRPr>
          </a:p>
        </p:txBody>
      </p:sp>
      <p:grpSp>
        <p:nvGrpSpPr>
          <p:cNvPr id="146" name="Group 3"/>
          <p:cNvGrpSpPr/>
          <p:nvPr/>
        </p:nvGrpSpPr>
        <p:grpSpPr>
          <a:xfrm>
            <a:off x="3022560" y="4894920"/>
            <a:ext cx="5018040" cy="1530000"/>
            <a:chOff x="3022560" y="4894920"/>
            <a:chExt cx="5018040" cy="1530000"/>
          </a:xfrm>
        </p:grpSpPr>
        <p:sp>
          <p:nvSpPr>
            <p:cNvPr id="147" name="CustomShape 4"/>
            <p:cNvSpPr/>
            <p:nvPr/>
          </p:nvSpPr>
          <p:spPr>
            <a:xfrm>
              <a:off x="3320280" y="5239080"/>
              <a:ext cx="4720320" cy="1185840"/>
            </a:xfrm>
            <a:prstGeom prst="rect">
              <a:avLst/>
            </a:prstGeom>
            <a:noFill/>
            <a:ln w="284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GB" sz="240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This might be a good place to start your report. Tell the reader what is is that you are trying to do!</a:t>
              </a:r>
              <a:endParaRPr b="0" lang="en-GB" sz="2400" spc="-1" strike="noStrike">
                <a:latin typeface="Arial"/>
              </a:endParaRPr>
            </a:p>
          </p:txBody>
        </p:sp>
        <p:sp>
          <p:nvSpPr>
            <p:cNvPr id="148" name="Line 5"/>
            <p:cNvSpPr/>
            <p:nvPr/>
          </p:nvSpPr>
          <p:spPr>
            <a:xfrm flipH="1" flipV="1">
              <a:off x="3022560" y="4894920"/>
              <a:ext cx="297720" cy="343800"/>
            </a:xfrm>
            <a:prstGeom prst="line">
              <a:avLst/>
            </a:prstGeom>
            <a:ln w="25560">
              <a:solidFill>
                <a:srgbClr val="ff0000"/>
              </a:solidFill>
              <a:round/>
              <a:tailEnd len="lg" type="triangle" w="med"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9" dur="indefinite" restart="never" nodeType="tmRoot">
          <p:childTnLst>
            <p:seq>
              <p:cTn id="280" dur="indefinite" nodeType="mainSeq">
                <p:childTnLst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Content &amp; Structure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50" name="CustomShape 2"/>
          <p:cNvSpPr/>
          <p:nvPr/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Your problem statement might be included with an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overview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of the final design solution in an </a:t>
            </a:r>
            <a:r>
              <a:rPr b="1" lang="en-GB" sz="3200" spc="-1" strike="noStrike">
                <a:solidFill>
                  <a:srgbClr val="0066b3"/>
                </a:solidFill>
                <a:latin typeface="Calibri"/>
                <a:ea typeface="DejaVu Sans"/>
              </a:rPr>
              <a:t>Abstract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or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Executive Summary</a:t>
            </a:r>
            <a:endParaRPr b="0" lang="en-GB" sz="3200" spc="-1" strike="noStrike">
              <a:latin typeface="Arial"/>
            </a:endParaRPr>
          </a:p>
        </p:txBody>
      </p:sp>
      <p:sp>
        <p:nvSpPr>
          <p:cNvPr id="151" name="CustomShape 3"/>
          <p:cNvSpPr/>
          <p:nvPr/>
        </p:nvSpPr>
        <p:spPr>
          <a:xfrm>
            <a:off x="2195280" y="2188440"/>
            <a:ext cx="1625040" cy="501840"/>
          </a:xfrm>
          <a:prstGeom prst="rect">
            <a:avLst/>
          </a:prstGeom>
          <a:noFill/>
          <a:ln w="28440">
            <a:solidFill>
              <a:srgbClr val="000000"/>
            </a:solidFill>
            <a:round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CustomShape 4"/>
          <p:cNvSpPr/>
          <p:nvPr/>
        </p:nvSpPr>
        <p:spPr>
          <a:xfrm>
            <a:off x="864720" y="3459240"/>
            <a:ext cx="7400880" cy="2282400"/>
          </a:xfrm>
          <a:prstGeom prst="rect">
            <a:avLst/>
          </a:prstGeom>
          <a:noFill/>
          <a:ln w="28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12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title, your names, date, contact details, etc.</a:t>
            </a:r>
            <a:endParaRPr b="0" lang="en-GB" sz="24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GB" sz="2400" spc="-1" strike="noStrike">
                <a:solidFill>
                  <a:srgbClr val="0066b3"/>
                </a:solidFill>
                <a:latin typeface="Calibri"/>
                <a:ea typeface="DejaVu Sans"/>
              </a:rPr>
              <a:t>Problem statement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GB" sz="24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GB" sz="2400" spc="-1" strike="noStrike">
                <a:solidFill>
                  <a:srgbClr val="0066b3"/>
                </a:solidFill>
                <a:latin typeface="Calibri"/>
                <a:ea typeface="DejaVu Sans"/>
              </a:rPr>
              <a:t>What has been achieved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(be as specific as possible, so give the key results)</a:t>
            </a:r>
            <a:endParaRPr b="0" lang="en-GB" sz="24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On the basis of the Abstract someone should be able to ask you intelligent questions about your achievements.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3" dur="indefinite" restart="never" nodeType="tmRoot">
          <p:childTnLst>
            <p:seq>
              <p:cTn id="294" dur="indefinite" nodeType="mainSeq">
                <p:childTnLst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Content &amp; Structure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54" name="CustomShape 2"/>
          <p:cNvSpPr/>
          <p:nvPr/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Main body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of text is used to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detail 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&amp;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 justify 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your design solutions</a:t>
            </a: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356ab7"/>
              </a:buClr>
              <a:buFont typeface="Arial"/>
              <a:buChar char="•"/>
            </a:pP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Justification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might be on the basis of:</a:t>
            </a:r>
            <a:endParaRPr b="0" lang="en-GB" sz="32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a technical assessment 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(performance, weight, size, packaging constraints, manufacturing constraints, etc.)</a:t>
            </a:r>
            <a:endParaRPr b="0" lang="en-GB" sz="24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economics</a:t>
            </a:r>
            <a:endParaRPr b="0" lang="en-GB" sz="32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safety</a:t>
            </a: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356ab7"/>
              </a:buClr>
              <a:buFont typeface="Arial"/>
              <a:buChar char="•"/>
            </a:pP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Detail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your selection criteria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1" dur="indefinite" restart="never" nodeType="tmRoot">
          <p:childTnLst>
            <p:seq>
              <p:cTn id="302" dur="indefinite" nodeType="mainSeq">
                <p:childTnLst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Content &amp; Structure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457200" y="14562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Conclude your group report with: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356ab7"/>
              </a:buClr>
              <a:buFont typeface="Arial"/>
              <a:buChar char="•"/>
            </a:pP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Conclusions</a:t>
            </a:r>
            <a:endParaRPr b="0" lang="en-GB" sz="32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which should be drawn logically from, and justified by, the </a:t>
            </a:r>
            <a:r>
              <a:rPr b="1" lang="en-GB" sz="2800" spc="-1" strike="noStrike">
                <a:solidFill>
                  <a:srgbClr val="356ab7"/>
                </a:solidFill>
                <a:latin typeface="Calibri"/>
                <a:ea typeface="DejaVu Sans"/>
              </a:rPr>
              <a:t>arguments presented in the main body of the report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(no new discussion or argument)</a:t>
            </a: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</a:pPr>
            <a:endParaRPr b="0" lang="en-GB" sz="28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short (bullet points acceptable)</a:t>
            </a: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</a:pPr>
            <a:endParaRPr b="0" lang="en-GB" sz="28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honest</a:t>
            </a:r>
            <a:endParaRPr b="0" lang="en-GB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7" dur="indefinite" restart="never" nodeType="tmRoot">
          <p:childTnLst>
            <p:seq>
              <p:cTn id="328" dur="indefinite" nodeType="mainSeq">
                <p:childTnLst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0066b3"/>
                </a:solidFill>
                <a:latin typeface="Calibri"/>
                <a:ea typeface="DejaVu Sans"/>
              </a:rPr>
              <a:t>Conclusions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58" name="CustomShape 2"/>
          <p:cNvSpPr/>
          <p:nvPr/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The Conclusions in some sense is an </a:t>
            </a:r>
            <a:r>
              <a:rPr b="1" lang="en-GB" sz="2600" spc="-1" strike="noStrike">
                <a:solidFill>
                  <a:srgbClr val="0066b3"/>
                </a:solidFill>
                <a:latin typeface="Calibri"/>
                <a:ea typeface="DejaVu Sans"/>
              </a:rPr>
              <a:t>extended version of the abstract</a:t>
            </a:r>
            <a:r>
              <a:rPr b="0" lang="en-GB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endParaRPr b="0" lang="en-GB" sz="2600" spc="-1" strike="noStrike">
              <a:latin typeface="Arial"/>
            </a:endParaRPr>
          </a:p>
          <a:p>
            <a:pPr lvl="1" marL="743040" indent="-2840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GB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emphasise the specific achievements and or key results (with appropriate references to the body of the report)  </a:t>
            </a:r>
            <a:endParaRPr b="0" lang="en-GB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</a:pPr>
            <a:endParaRPr b="0" lang="en-GB" sz="26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End the Conclusions by saying </a:t>
            </a:r>
            <a:r>
              <a:rPr b="1" lang="en-GB" sz="2600" spc="-1" strike="noStrike">
                <a:solidFill>
                  <a:srgbClr val="0066b3"/>
                </a:solidFill>
                <a:latin typeface="Calibri"/>
                <a:ea typeface="DejaVu Sans"/>
              </a:rPr>
              <a:t>what should be done next</a:t>
            </a:r>
            <a:endParaRPr b="0" lang="en-GB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26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Have </a:t>
            </a:r>
            <a:r>
              <a:rPr b="1" lang="en-GB" sz="2600" spc="-1" strike="noStrike">
                <a:solidFill>
                  <a:srgbClr val="0066b3"/>
                </a:solidFill>
                <a:latin typeface="Calibri"/>
                <a:ea typeface="DejaVu Sans"/>
              </a:rPr>
              <a:t>interim conclusions at the end of each Chapter</a:t>
            </a:r>
            <a:endParaRPr b="0" lang="en-GB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5" dur="indefinite" restart="never" nodeType="tmRoot">
          <p:childTnLst>
            <p:seq>
              <p:cTn id="346" dur="indefinite" nodeType="mainSeq">
                <p:childTnLst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GB" sz="4400" spc="-1" strike="noStrike">
                <a:solidFill>
                  <a:srgbClr val="356ab7"/>
                </a:solidFill>
                <a:latin typeface="Calibri"/>
                <a:ea typeface="DejaVu Sans"/>
              </a:rPr>
              <a:t>Final Thoughts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60" name="CustomShape 2"/>
          <p:cNvSpPr/>
          <p:nvPr/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0000"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Open-ended design problems are: 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Difficult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Commonplace in the real world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Technical communication is a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critical skill 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for engineering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GB" sz="3200" spc="-1" strike="noStrike">
              <a:latin typeface="Arial"/>
            </a:endParaRPr>
          </a:p>
          <a:p>
            <a:pPr marL="343080" indent="-3412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Typically, </a:t>
            </a:r>
            <a:r>
              <a:rPr b="1" lang="en-GB" sz="3200" spc="-1" strike="noStrike">
                <a:solidFill>
                  <a:srgbClr val="356ab7"/>
                </a:solidFill>
                <a:latin typeface="Calibri"/>
                <a:ea typeface="DejaVu Sans"/>
              </a:rPr>
              <a:t>you will be judged on what you present</a:t>
            </a: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, not necessarily on what you have done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1" dur="indefinite" restart="never" nodeType="tmRoot">
          <p:childTnLst>
            <p:seq>
              <p:cTn id="362" dur="indefinite" nodeType="mainSeq">
                <p:childTnLst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1130</TotalTime>
  <Application>LibreOffice/7.3.7.2$Linux_X86_64 LibreOffice_project/30$Build-2</Application>
  <AppVersion>15.0000</AppVersion>
  <Company>Oxford University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2018-02-19T20:12:41Z</dcterms:created>
  <dc:creator>Martin Davy</dc:creator>
  <dc:description/>
  <dc:language>en-GB</dc:language>
  <cp:lastModifiedBy/>
  <dcterms:modified xsi:type="dcterms:W3CDTF">2026-02-09T14:48:02Z</dcterms:modified>
  <cp:revision>84</cp:revision>
  <dc:subject/>
  <dc:title>Chemical Storage for Renewable Energy Report Writing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r8>0</vt:r8>
  </property>
  <property fmtid="{D5CDD505-2E9C-101B-9397-08002B2CF9AE}" pid="6" name="Notes">
    <vt:r8>0</vt:r8>
  </property>
  <property fmtid="{D5CDD505-2E9C-101B-9397-08002B2CF9AE}" pid="7" name="PresentationFormat">
    <vt:lpwstr>On-screen Show (4:3)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r8>22</vt:r8>
  </property>
</Properties>
</file>